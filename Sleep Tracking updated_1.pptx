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2"/>
  </p:notesMasterIdLst>
  <p:handoutMasterIdLst>
    <p:handoutMasterId r:id="rId13"/>
  </p:handoutMasterIdLst>
  <p:sldIdLst>
    <p:sldId id="410" r:id="rId5"/>
    <p:sldId id="383" r:id="rId6"/>
    <p:sldId id="406" r:id="rId7"/>
    <p:sldId id="413" r:id="rId8"/>
    <p:sldId id="411" r:id="rId9"/>
    <p:sldId id="414" r:id="rId10"/>
    <p:sldId id="41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632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rkWise224/Datavis_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b="1" i="0" kern="1200" spc="100" baseline="0" dirty="0">
                <a:latin typeface="+mj-lt"/>
                <a:ea typeface="+mj-ea"/>
                <a:cs typeface="+mj-cs"/>
              </a:rPr>
              <a:t>Sleep 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CDC5E-86AF-16B5-7E78-58883DE1F388}"/>
              </a:ext>
            </a:extLst>
          </p:cNvPr>
          <p:cNvSpPr txBox="1"/>
          <p:nvPr/>
        </p:nvSpPr>
        <p:spPr>
          <a:xfrm>
            <a:off x="6309904" y="5202695"/>
            <a:ext cx="1201238" cy="401271"/>
          </a:xfrm>
          <a:prstGeom prst="rect">
            <a:avLst/>
          </a:prstGeom>
        </p:spPr>
        <p:txBody>
          <a:bodyPr vert="horz" lIns="0" tIns="0" rIns="0" bIns="0" rtlCol="0">
            <a:normAutofit fontScale="700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By: Amen W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anchor="b">
            <a:normAutofit/>
          </a:bodyPr>
          <a:lstStyle/>
          <a:p>
            <a:r>
              <a:rPr lang="en-US" dirty="0"/>
              <a:t>Question to answer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 tIns="457200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Does </a:t>
            </a:r>
            <a:r>
              <a:rPr lang="en-US" dirty="0">
                <a:effectLst/>
              </a:rPr>
              <a:t>the number of hours I sleep each night affect my productivity, mood, or cognitive performance the next day?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C2960E-7E48-3889-73A5-E8FF7DCEDDF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 name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Rise sleep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of observations: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n=14 (nights of sleep and productivity data)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 used: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Sleep Duration 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- Productivity rate out of 10</a:t>
            </a:r>
            <a:endParaRPr lang="en-US" b="1" dirty="0"/>
          </a:p>
        </p:txBody>
      </p:sp>
      <p:pic>
        <p:nvPicPr>
          <p:cNvPr id="11" name="Picture 10" descr="A screenshot of a sleep quality report&#10;&#10;AI-generated content may be incorrect.">
            <a:extLst>
              <a:ext uri="{FF2B5EF4-FFF2-40B4-BE49-F238E27FC236}">
                <a16:creationId xmlns:a16="http://schemas.microsoft.com/office/drawing/2014/main" id="{E5B04FBB-FC53-C807-F0CD-A4031F2F0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2" y="3965302"/>
            <a:ext cx="2269826" cy="2021840"/>
          </a:xfrm>
          <a:prstGeom prst="rect">
            <a:avLst/>
          </a:prstGeom>
        </p:spPr>
      </p:pic>
      <p:pic>
        <p:nvPicPr>
          <p:cNvPr id="12" name="Picture 11" descr="A colorful circle with a sun in the middle&#10;&#10;AI-generated content may be incorrect.">
            <a:extLst>
              <a:ext uri="{FF2B5EF4-FFF2-40B4-BE49-F238E27FC236}">
                <a16:creationId xmlns:a16="http://schemas.microsoft.com/office/drawing/2014/main" id="{E2A0C869-81EB-DBC0-BD68-7DF32EA7E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047" y="870858"/>
            <a:ext cx="2757730" cy="275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249D-A569-A5A7-209A-A1F54AD3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anchor="b">
            <a:normAutofit/>
          </a:bodyPr>
          <a:lstStyle/>
          <a:p>
            <a:r>
              <a:rPr lang="en-US" dirty="0"/>
              <a:t>Hypothesis testing(Linear regression)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CF2F21-6158-746C-5B1D-6944DEE01C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9142" y="2337798"/>
            <a:ext cx="10126618" cy="4245882"/>
          </a:xfrm>
        </p:spPr>
        <p:txBody>
          <a:bodyPr>
            <a:normAutofit/>
          </a:bodyPr>
          <a:lstStyle/>
          <a:p>
            <a:pPr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b="1" i="0" dirty="0">
                <a:effectLst/>
              </a:rPr>
              <a:t>Research Question</a:t>
            </a:r>
            <a:r>
              <a:rPr lang="en-US" b="0" i="0" dirty="0">
                <a:effectLst/>
              </a:rPr>
              <a:t>: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>
              <a:spcBef>
                <a:spcPts val="1029"/>
              </a:spcBef>
              <a:spcAft>
                <a:spcPts val="1029"/>
              </a:spcAft>
            </a:pPr>
            <a:r>
              <a:rPr lang="en-US" dirty="0"/>
              <a:t>The number of hours of sleep I get each night positively correlates with my productivity the next day. </a:t>
            </a:r>
          </a:p>
          <a:p>
            <a:pPr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dirty="0"/>
              <a:t>Variables:</a:t>
            </a:r>
          </a:p>
          <a:p>
            <a:pPr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Independent Variable:</a:t>
            </a:r>
            <a:r>
              <a:rPr lang="en-US" b="0" i="0" dirty="0">
                <a:effectLst/>
              </a:rPr>
              <a:t> Sleep Hours </a:t>
            </a:r>
          </a:p>
          <a:p>
            <a:pPr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Dependent Variable:</a:t>
            </a:r>
            <a:r>
              <a:rPr lang="en-US" b="0" i="0" dirty="0">
                <a:effectLst/>
              </a:rPr>
              <a:t> Productivity Score (continuous, scale 1-10)</a:t>
            </a:r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b="0" dirty="0"/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b="0" dirty="0"/>
          </a:p>
          <a:p>
            <a:pPr marL="0" indent="0">
              <a:spcBef>
                <a:spcPts val="300"/>
              </a:spcBef>
              <a:spcAft>
                <a:spcPts val="1029"/>
              </a:spcAft>
              <a:buNone/>
            </a:pPr>
            <a:endParaRPr lang="en-US" b="0" i="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51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0BEF-85F1-A0D5-D845-78D44CBE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anchor="b">
            <a:normAutofit/>
          </a:bodyPr>
          <a:lstStyle/>
          <a:p>
            <a:r>
              <a:rPr lang="en-US" dirty="0"/>
              <a:t>Hypothesis</a:t>
            </a: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405C5B1-ED08-A641-05DF-0AA57DF23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3818477"/>
            <a:ext cx="4490827" cy="131356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6FD5-56CB-2943-A7D5-72330F12885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>
            <a:normAutofit lnSpcReduction="10000"/>
          </a:bodyPr>
          <a:lstStyle/>
          <a:p>
            <a:endParaRPr lang="en-US" sz="1900" b="1" dirty="0"/>
          </a:p>
          <a:p>
            <a:r>
              <a:rPr lang="en-US" sz="1900" b="1" dirty="0"/>
              <a:t>H₀ (Null): </a:t>
            </a:r>
            <a:r>
              <a:rPr lang="el-GR" sz="1900" b="1" dirty="0"/>
              <a:t>ρ = 0 (</a:t>
            </a:r>
            <a:r>
              <a:rPr lang="en-US" sz="1900" b="1" dirty="0"/>
              <a:t>No positive correlation)</a:t>
            </a:r>
          </a:p>
          <a:p>
            <a:endParaRPr lang="en-US" sz="1900" b="1" dirty="0"/>
          </a:p>
          <a:p>
            <a:r>
              <a:rPr lang="en-US" sz="1900" b="1" dirty="0"/>
              <a:t>H₁ (Alternative): </a:t>
            </a:r>
            <a:r>
              <a:rPr lang="el-GR" sz="1900" b="1" dirty="0"/>
              <a:t>ρ &gt; 0 (</a:t>
            </a:r>
            <a:r>
              <a:rPr lang="en-US" sz="1900" b="1" dirty="0"/>
              <a:t>Positive correlation)</a:t>
            </a:r>
          </a:p>
          <a:p>
            <a:endParaRPr lang="en-US" sz="1900" dirty="0"/>
          </a:p>
          <a:p>
            <a:r>
              <a:rPr lang="en-US" sz="1900" dirty="0"/>
              <a:t>Formula for the Slope (</a:t>
            </a:r>
            <a:r>
              <a:rPr lang="el-GR" sz="1900" dirty="0"/>
              <a:t>β₁</a:t>
            </a:r>
            <a:r>
              <a:rPr lang="en-US" sz="1900" dirty="0"/>
              <a:t> = 0.8</a:t>
            </a:r>
            <a:r>
              <a:rPr lang="el-GR" sz="1900" dirty="0"/>
              <a:t>) </a:t>
            </a:r>
            <a:r>
              <a:rPr lang="en-US" sz="1900" dirty="0"/>
              <a:t>in Simple Linear Regression:</a:t>
            </a:r>
          </a:p>
          <a:p>
            <a:pPr marL="0" indent="0">
              <a:buNone/>
            </a:pPr>
            <a:r>
              <a:rPr lang="en-US" sz="1900" dirty="0"/>
              <a:t>	</a:t>
            </a:r>
            <a:endParaRPr 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1639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FA58-4D1F-FE5E-D89C-9E5D0EC6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348A4-4CE0-A2B5-CD31-44D3B01F0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2722444"/>
            <a:ext cx="6787747" cy="3708517"/>
          </a:xfrm>
        </p:spPr>
        <p:txBody>
          <a:bodyPr/>
          <a:lstStyle/>
          <a:p>
            <a:r>
              <a:rPr lang="en-US" dirty="0"/>
              <a:t>The data does not support the claim that increased The analysis reveals a statistically significant positive relationship between sleep duration and productivity (β = 0.8, p &lt; 0.001). For each additional hour of sleep, productivity scores increased by an average of 0.8 points. This supports the hypothesis that more sleep enhances next-day performance.</a:t>
            </a:r>
          </a:p>
        </p:txBody>
      </p:sp>
      <p:pic>
        <p:nvPicPr>
          <p:cNvPr id="13" name="Picture 12" descr="A graph with a line and numbers&#10;&#10;AI-generated content may be incorrect.">
            <a:extLst>
              <a:ext uri="{FF2B5EF4-FFF2-40B4-BE49-F238E27FC236}">
                <a16:creationId xmlns:a16="http://schemas.microsoft.com/office/drawing/2014/main" id="{DE15F0CD-595A-70E0-F36E-F4E6719AF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131" y="419582"/>
            <a:ext cx="5070098" cy="2718447"/>
          </a:xfrm>
          <a:prstGeom prst="rect">
            <a:avLst/>
          </a:prstGeom>
        </p:spPr>
      </p:pic>
      <p:pic>
        <p:nvPicPr>
          <p:cNvPr id="15" name="Picture 14" descr="A computer screen shot of a number&#10;&#10;AI-generated content may be incorrect.">
            <a:extLst>
              <a:ext uri="{FF2B5EF4-FFF2-40B4-BE49-F238E27FC236}">
                <a16:creationId xmlns:a16="http://schemas.microsoft.com/office/drawing/2014/main" id="{E7C01FFA-5545-029F-F5DD-CBABE41A7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426" y="5286414"/>
            <a:ext cx="2428268" cy="81597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19D103-5DE0-EDE4-C57D-AC7F55E721C6}"/>
              </a:ext>
            </a:extLst>
          </p:cNvPr>
          <p:cNvSpPr txBox="1"/>
          <p:nvPr/>
        </p:nvSpPr>
        <p:spPr>
          <a:xfrm>
            <a:off x="6619414" y="4647455"/>
            <a:ext cx="3217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The p-value 6.89e-06 </a:t>
            </a:r>
          </a:p>
        </p:txBody>
      </p:sp>
    </p:spTree>
    <p:extLst>
      <p:ext uri="{BB962C8B-B14F-4D97-AF65-F5344CB8AC3E}">
        <p14:creationId xmlns:p14="http://schemas.microsoft.com/office/powerpoint/2010/main" val="210170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5DDC-4D5E-041B-0703-039A9C62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GitHub </a:t>
            </a:r>
            <a:r>
              <a:rPr lang="en-US" dirty="0"/>
              <a:t>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8DB3E-E7A5-78F5-2DE2-9B8B910603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https://github.com/WorkWise224/Datavis_Project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6188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purl.org/dc/terms/"/>
    <ds:schemaRef ds:uri="71af3243-3dd4-4a8d-8c0d-dd76da1f02a5"/>
    <ds:schemaRef ds:uri="http://schemas.microsoft.com/sharepoint/v3"/>
    <ds:schemaRef ds:uri="http://schemas.microsoft.com/office/2006/documentManagement/types"/>
    <ds:schemaRef ds:uri="16c05727-aa75-4e4a-9b5f-8a80a1165891"/>
    <ds:schemaRef ds:uri="http://www.w3.org/XML/1998/namespace"/>
    <ds:schemaRef ds:uri="230e9df3-be65-4c73-a93b-d1236ebd677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{741AF548-A895-4F30-8172-B81CA2E1C9BF}tf78853419_win32</Template>
  <TotalTime>744</TotalTime>
  <Words>235</Words>
  <Application>Microsoft Office PowerPoint</Application>
  <PresentationFormat>Widescreen</PresentationFormat>
  <Paragraphs>35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Wingdings</vt:lpstr>
      <vt:lpstr>Custom</vt:lpstr>
      <vt:lpstr>Sleep Tracking</vt:lpstr>
      <vt:lpstr>Question to answer</vt:lpstr>
      <vt:lpstr>Data collection</vt:lpstr>
      <vt:lpstr>Hypothesis testing(Linear regression)</vt:lpstr>
      <vt:lpstr>Hypothesis</vt:lpstr>
      <vt:lpstr>Conclusion</vt:lpstr>
      <vt:lpstr>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Wolde, Amen M</dc:creator>
  <cp:lastModifiedBy>Wolde, Amen M</cp:lastModifiedBy>
  <cp:revision>4</cp:revision>
  <dcterms:created xsi:type="dcterms:W3CDTF">2025-04-30T18:22:58Z</dcterms:created>
  <dcterms:modified xsi:type="dcterms:W3CDTF">2025-05-02T01:04:46Z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